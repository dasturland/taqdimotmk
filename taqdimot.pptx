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type="screen16x9"/>
  <p:notesSz cx="6858000" cy="12192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3.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7.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0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11"/>
          <p:cNvSpPr/>
          <p:nvPr/>
        </p:nvSpPr>
        <p:spPr>
          <a:xfrm>
            <a:off x="0" y="0"/>
            <a:ext cx="12192000" cy="6858000"/>
          </a:xfrm>
          <a:prstGeom prst="roundRect">
            <a:avLst>
              <a:gd name="adj" fmla="val 6000"/>
            </a:avLst>
          </a:prstGeom>
          <a:solidFill>
            <a:srgbClr val="06162E"/>
          </a:solidFill>
          <a:ln>
            <a:noFill/>
          </a:ln>
        </p:spPr>
        <p:txBody>
          <a:bodyPr/>
          <a:lstStyle/>
          <a:p/>
        </p:txBody>
      </p:sp>
      <p:sp>
        <p:nvSpPr>
          <p:cNvPr id="12" name="rect12"/>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13" name="rect13"/>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14" name="tb14"/>
          <p:cNvSpPr txBox="1"/>
          <p:nvPr/>
        </p:nvSpPr>
        <p:spPr>
          <a:xfrm>
            <a:off x="0" y="457200"/>
            <a:ext cx="12192000" cy="365760"/>
          </a:xfrm>
          <a:prstGeom prst="rect">
            <a:avLst/>
          </a:prstGeom>
        </p:spPr>
        <p:txBody>
          <a:bodyPr wrap="square" lIns="0" tIns="0" rIns="0" bIns="0" anchor="t"/>
          <a:lstStyle/>
          <a:p>
            <a:pPr algn="ctr">
              <a:spcAft>
                <a:spcPts val="600"/>
              </a:spcAft>
              <a:buNone/>
            </a:pPr>
            <a:r>
              <a:rPr lang="uz-UZ" sz="2000" b="1" dirty="0">
                <a:solidFill>
                  <a:srgbClr val="22E0FF"/>
                </a:solidFill>
                <a:latin typeface="Times New Roman"/>
                <a:cs typeface="Times New Roman"/>
              </a:rPr>
              <a:t>TAQDIMOT  •  AXBOROT TIZIMLARI</a:t>
            </a:r>
          </a:p>
        </p:txBody>
      </p:sp>
      <p:sp>
        <p:nvSpPr>
          <p:cNvPr id="15" name="tb15"/>
          <p:cNvSpPr txBox="1"/>
          <p:nvPr/>
        </p:nvSpPr>
        <p:spPr>
          <a:xfrm>
            <a:off x="914400" y="914400"/>
            <a:ext cx="10363200" cy="1188720"/>
          </a:xfrm>
          <a:prstGeom prst="rect">
            <a:avLst/>
          </a:prstGeom>
        </p:spPr>
        <p:txBody>
          <a:bodyPr wrap="square" lIns="0" tIns="0" rIns="0" bIns="0" anchor="t"/>
          <a:lstStyle/>
          <a:p>
            <a:pPr algn="ctr">
              <a:spcAft>
                <a:spcPts val="600"/>
              </a:spcAft>
              <a:buNone/>
            </a:pPr>
            <a:r>
              <a:rPr lang="uz-UZ" sz="3200" b="1" dirty="0">
                <a:solidFill>
                  <a:srgbClr val="EEF5FC"/>
                </a:solidFill>
                <a:latin typeface="Times New Roman"/>
                <a:cs typeface="Times New Roman"/>
              </a:rPr>
              <a:t>Internet kabellari (Optik tola) </a:t>
            </a:r>
            <a:r>
              <a:rPr lang="uz-UZ" sz="3200" b="1" dirty="0">
                <a:solidFill>
                  <a:srgbClr val="22E0FF"/>
                </a:solidFill>
                <a:latin typeface="Times New Roman"/>
                <a:cs typeface="Times New Roman"/>
              </a:rPr>
              <a:t>fizikasi</a:t>
            </a:r>
          </a:p>
        </p:txBody>
      </p:sp>
      <p:sp>
        <p:nvSpPr>
          <p:cNvPr id="16" name="tb16"/>
          <p:cNvSpPr txBox="1"/>
          <p:nvPr/>
        </p:nvSpPr>
        <p:spPr>
          <a:xfrm>
            <a:off x="1371600" y="2011680"/>
            <a:ext cx="9448800" cy="822960"/>
          </a:xfrm>
          <a:prstGeom prst="rect">
            <a:avLst/>
          </a:prstGeom>
        </p:spPr>
        <p:txBody>
          <a:bodyPr wrap="square" lIns="0" tIns="0" rIns="0" bIns="0" anchor="t"/>
          <a:lstStyle/>
          <a:p>
            <a:pPr algn="ctr">
              <a:spcAft>
                <a:spcPts val="600"/>
              </a:spcAft>
              <a:buNone/>
            </a:pPr>
            <a:r>
              <a:rPr lang="uz-UZ" sz="2600" b="0" i="1" dirty="0">
                <a:solidFill>
                  <a:srgbClr val="A9C2DA"/>
                </a:solidFill>
                <a:latin typeface="Times New Roman"/>
                <a:cs typeface="Times New Roman"/>
              </a:rPr>
              <a:t>Qitʻalarni bogʻlovchi suv osti kabellarida maʻlumotlarni yorugʻlik tezligida uzatish texnologiyalari</a:t>
            </a:r>
          </a:p>
        </p:txBody>
      </p:sp>
      <p:pic>
        <p:nvPicPr>
          <p:cNvPr id="17" name="img17"/>
          <p:cNvPicPr>
            <a:picLocks noChangeAspect="1"/>
          </p:cNvPicPr>
          <p:nvPr/>
        </p:nvPicPr>
        <p:blipFill>
          <a:blip r:embed="rId2"/>
          <a:stretch>
            <a:fillRect/>
          </a:stretch>
        </p:blipFill>
        <p:spPr>
          <a:xfrm>
            <a:off x="3355848" y="2880360"/>
            <a:ext cx="5486400" cy="2743200"/>
          </a:xfrm>
          <a:prstGeom prst="rect">
            <a:avLst/>
          </a:prstGeom>
          <a:ln w="19050">
            <a:solidFill>
              <a:srgbClr val="22E0FF">
                <a:alpha val="55000"/>
              </a:srgbClr>
            </a:solidFill>
          </a:ln>
        </p:spPr>
      </p:pic>
      <p:sp>
        <p:nvSpPr>
          <p:cNvPr id="18" name="tb18"/>
          <p:cNvSpPr txBox="1"/>
          <p:nvPr/>
        </p:nvSpPr>
        <p:spPr>
          <a:xfrm>
            <a:off x="914400" y="5943600"/>
            <a:ext cx="10363200" cy="822960"/>
          </a:xfrm>
          <a:prstGeom prst="rect">
            <a:avLst/>
          </a:prstGeom>
        </p:spPr>
        <p:txBody>
          <a:bodyPr wrap="square" lIns="0" tIns="0" rIns="0" bIns="0" anchor="t"/>
          <a:lstStyle/>
          <a:p>
            <a:pPr algn="ctr">
              <a:spcAft>
                <a:spcPts val="200"/>
              </a:spcAft>
              <a:buNone/>
            </a:pPr>
            <a:r>
              <a:rPr lang="uz-UZ" sz="2000" b="1" dirty="0">
                <a:solidFill>
                  <a:srgbClr val="FFD166"/>
                </a:solidFill>
                <a:latin typeface="Times New Roman"/>
                <a:cs typeface="Times New Roman"/>
              </a:rPr>
              <a:t>Universitet: </a:t>
            </a:r>
            <a:r>
              <a:rPr lang="uz-UZ" sz="1400" b="0" dirty="0">
                <a:solidFill>
                  <a:srgbClr val="EEF5FC"/>
                </a:solidFill>
                <a:latin typeface="Times New Roman"/>
                <a:cs typeface="Times New Roman"/>
              </a:rPr>
              <a:t>Jizzax davlat pedagogika universiteti tabiiy fanlar oliy maktabi</a:t>
            </a:r>
          </a:p>
          <a:p>
            <a:pPr algn="ctr">
              <a:spcAft>
                <a:spcPts val="0"/>
              </a:spcAft>
              <a:buNone/>
            </a:pPr>
            <a:r>
              <a:rPr lang="uz-UZ" sz="2000" b="1" dirty="0">
                <a:solidFill>
                  <a:srgbClr val="FFD166"/>
                </a:solidFill>
                <a:latin typeface="Times New Roman"/>
                <a:cs typeface="Times New Roman"/>
              </a:rPr>
              <a:t>Fan: </a:t>
            </a:r>
            <a:r>
              <a:rPr lang="uz-UZ" sz="1400" b="0" dirty="0">
                <a:solidFill>
                  <a:srgbClr val="EEF5FC"/>
                </a:solidFill>
                <a:latin typeface="Times New Roman"/>
                <a:cs typeface="Times New Roman"/>
              </a:rPr>
              <a:t>Axborot tizimlari</a:t>
            </a:r>
            <a:r>
              <a:rPr lang="uz-UZ" sz="2000" b="1" dirty="0">
                <a:solidFill>
                  <a:srgbClr val="FFD166"/>
                </a:solidFill>
                <a:latin typeface="Times New Roman"/>
                <a:cs typeface="Times New Roman"/>
              </a:rPr>
              <a:t>     Talaba: </a:t>
            </a:r>
            <a:r>
              <a:rPr lang="uz-UZ" sz="1400" b="0" dirty="0">
                <a:solidFill>
                  <a:srgbClr val="EEF5FC"/>
                </a:solidFill>
                <a:latin typeface="Times New Roman"/>
                <a:cs typeface="Times New Roman"/>
              </a:rPr>
              <a:t>Toshboʻriyeva Marjona (242_26 - guruh)</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19"/>
          <p:cNvSpPr/>
          <p:nvPr/>
        </p:nvSpPr>
        <p:spPr>
          <a:xfrm>
            <a:off x="0" y="0"/>
            <a:ext cx="12192000" cy="6858000"/>
          </a:xfrm>
          <a:prstGeom prst="roundRect">
            <a:avLst>
              <a:gd name="adj" fmla="val 6000"/>
            </a:avLst>
          </a:prstGeom>
          <a:solidFill>
            <a:srgbClr val="06162E"/>
          </a:solidFill>
          <a:ln>
            <a:noFill/>
          </a:ln>
        </p:spPr>
        <p:txBody>
          <a:bodyPr/>
          <a:lstStyle/>
          <a:p/>
        </p:txBody>
      </p:sp>
      <p:sp>
        <p:nvSpPr>
          <p:cNvPr id="20" name="rect20"/>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21" name="rect21"/>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22" name="tb22"/>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KIRISH • REJA</a:t>
            </a:r>
          </a:p>
        </p:txBody>
      </p:sp>
      <p:sp>
        <p:nvSpPr>
          <p:cNvPr id="23" name="tb23"/>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Reja (Mundarija)</a:t>
            </a:r>
          </a:p>
        </p:txBody>
      </p:sp>
      <p:pic>
        <p:nvPicPr>
          <p:cNvPr id="24" name="img24"/>
          <p:cNvPicPr>
            <a:picLocks noChangeAspect="1"/>
          </p:cNvPicPr>
          <p:nvPr/>
        </p:nvPicPr>
        <p:blipFill>
          <a:blip r:embed="rId2"/>
          <a:stretch>
            <a:fillRect/>
          </a:stretch>
        </p:blipFill>
        <p:spPr>
          <a:xfrm>
            <a:off x="6309360" y="1554480"/>
            <a:ext cx="5330952" cy="2999232"/>
          </a:xfrm>
          <a:prstGeom prst="rect">
            <a:avLst/>
          </a:prstGeom>
          <a:ln w="19050">
            <a:solidFill>
              <a:srgbClr val="22E0FF">
                <a:alpha val="55000"/>
              </a:srgbClr>
            </a:solidFill>
          </a:ln>
        </p:spPr>
      </p:pic>
      <p:sp>
        <p:nvSpPr>
          <p:cNvPr id="25" name="tb25"/>
          <p:cNvSpPr txBox="1"/>
          <p:nvPr/>
        </p:nvSpPr>
        <p:spPr>
          <a:xfrm>
            <a:off x="548640" y="1600200"/>
            <a:ext cx="5394960" cy="4114800"/>
          </a:xfrm>
          <a:prstGeom prst="rect">
            <a:avLst/>
          </a:prstGeom>
        </p:spPr>
        <p:txBody>
          <a:bodyPr wrap="square" lIns="0" tIns="0" rIns="0" bIns="0" anchor="t"/>
          <a:lstStyle/>
          <a:p>
            <a:pPr algn="l">
              <a:spcAft>
                <a:spcPts val="200"/>
              </a:spcAft>
              <a:buNone/>
            </a:pPr>
            <a:r>
              <a:rPr lang="uz-UZ" sz="2000" b="1" dirty="0">
                <a:solidFill>
                  <a:srgbClr val="22E0FF"/>
                </a:solidFill>
                <a:latin typeface="Times New Roman"/>
                <a:cs typeface="Times New Roman"/>
              </a:rPr>
              <a:t>1-reja.</a:t>
            </a:r>
            <a:r>
              <a:rPr lang="uz-UZ" sz="2000" b="1" dirty="0">
                <a:solidFill>
                  <a:srgbClr val="EEF5FC"/>
                </a:solidFill>
                <a:latin typeface="Times New Roman"/>
                <a:cs typeface="Times New Roman"/>
              </a:rPr>
              <a:t> Optik tola nima va u axborotni qanday “oʻqiydi”?</a:t>
            </a:r>
          </a:p>
          <a:p>
            <a:pPr algn="l">
              <a:spcAft>
                <a:spcPts val="800"/>
              </a:spcAft>
              <a:buNone/>
            </a:pPr>
            <a:r>
              <a:rPr lang="uz-UZ" sz="1400" b="0" i="1" dirty="0">
                <a:solidFill>
                  <a:srgbClr val="A9C2DA"/>
                </a:solidFill>
                <a:latin typeface="Times New Roman"/>
                <a:cs typeface="Times New Roman"/>
              </a:rPr>
              <a:t>Fotonlar, modulyatsiya va tolaning ichki tuzilishi — Slayd 3–4.</a:t>
            </a:r>
          </a:p>
          <a:p>
            <a:pPr algn="l">
              <a:spcAft>
                <a:spcPts val="200"/>
              </a:spcAft>
              <a:buNone/>
            </a:pPr>
            <a:r>
              <a:rPr lang="uz-UZ" sz="2000" b="1" dirty="0">
                <a:solidFill>
                  <a:srgbClr val="22E0FF"/>
                </a:solidFill>
                <a:latin typeface="Times New Roman"/>
                <a:cs typeface="Times New Roman"/>
              </a:rPr>
              <a:t>2-reja.</a:t>
            </a:r>
            <a:r>
              <a:rPr lang="uz-UZ" sz="2000" b="1" dirty="0">
                <a:solidFill>
                  <a:srgbClr val="EEF5FC"/>
                </a:solidFill>
                <a:latin typeface="Times New Roman"/>
                <a:cs typeface="Times New Roman"/>
              </a:rPr>
              <a:t> Yorugʻlikning toʻliq ichki qaytish fizikasi va afzalliklari.</a:t>
            </a:r>
          </a:p>
          <a:p>
            <a:pPr algn="l">
              <a:spcAft>
                <a:spcPts val="800"/>
              </a:spcAft>
              <a:buNone/>
            </a:pPr>
            <a:r>
              <a:rPr lang="uz-UZ" sz="1400" b="0" i="1" dirty="0">
                <a:solidFill>
                  <a:srgbClr val="A9C2DA"/>
                </a:solidFill>
                <a:latin typeface="Times New Roman"/>
                <a:cs typeface="Times New Roman"/>
              </a:rPr>
              <a:t>Snell qonuni, kritik burchak, soʻnish dB/km, DWDM — Slayd 5–6.</a:t>
            </a:r>
          </a:p>
          <a:p>
            <a:pPr algn="l">
              <a:spcAft>
                <a:spcPts val="200"/>
              </a:spcAft>
              <a:buNone/>
            </a:pPr>
            <a:r>
              <a:rPr lang="uz-UZ" sz="2000" b="1" dirty="0">
                <a:solidFill>
                  <a:srgbClr val="22E0FF"/>
                </a:solidFill>
                <a:latin typeface="Times New Roman"/>
                <a:cs typeface="Times New Roman"/>
              </a:rPr>
              <a:t>3-reja.</a:t>
            </a:r>
            <a:r>
              <a:rPr lang="uz-UZ" sz="2000" b="1" dirty="0">
                <a:solidFill>
                  <a:srgbClr val="EEF5FC"/>
                </a:solidFill>
                <a:latin typeface="Times New Roman"/>
                <a:cs typeface="Times New Roman"/>
              </a:rPr>
              <a:t> Qitʻalararo suv osti kabellari — global tizim asosi.</a:t>
            </a:r>
          </a:p>
          <a:p>
            <a:pPr algn="l">
              <a:spcAft>
                <a:spcPts val="800"/>
              </a:spcAft>
              <a:buNone/>
            </a:pPr>
            <a:r>
              <a:rPr lang="uz-UZ" sz="1400" b="0" i="1" dirty="0">
                <a:solidFill>
                  <a:srgbClr val="A9C2DA"/>
                </a:solidFill>
                <a:latin typeface="Times New Roman"/>
                <a:cs typeface="Times New Roman"/>
              </a:rPr>
              <a:t>Okean osti infratuzilmasi va yotqizish — Slayd 7–8.</a:t>
            </a:r>
          </a:p>
          <a:p>
            <a:pPr algn="l">
              <a:spcAft>
                <a:spcPts val="200"/>
              </a:spcAft>
              <a:buNone/>
            </a:pPr>
            <a:r>
              <a:rPr lang="uz-UZ" sz="2000" b="1" dirty="0">
                <a:solidFill>
                  <a:srgbClr val="22E0FF"/>
                </a:solidFill>
                <a:latin typeface="Times New Roman"/>
                <a:cs typeface="Times New Roman"/>
              </a:rPr>
              <a:t>Xulosa.</a:t>
            </a:r>
            <a:r>
              <a:rPr lang="uz-UZ" sz="2000" b="1" dirty="0">
                <a:solidFill>
                  <a:srgbClr val="EEF5FC"/>
                </a:solidFill>
                <a:latin typeface="Times New Roman"/>
                <a:cs typeface="Times New Roman"/>
              </a:rPr>
              <a:t> Optik tolaning axborot texnologiyalari kelajagidagi oʻrni.</a:t>
            </a:r>
          </a:p>
          <a:p>
            <a:pPr algn="l">
              <a:spcAft>
                <a:spcPts val="800"/>
              </a:spcAft>
              <a:buNone/>
            </a:pPr>
            <a:r>
              <a:rPr lang="uz-UZ" sz="1400" b="0" i="1" dirty="0">
                <a:solidFill>
                  <a:srgbClr val="A9C2DA"/>
                </a:solidFill>
                <a:latin typeface="Times New Roman"/>
                <a:cs typeface="Times New Roman"/>
              </a:rPr>
              <a:t>Umumlashtirish va rahmat — Slayd 9–10.</a:t>
            </a:r>
          </a:p>
        </p:txBody>
      </p:sp>
      <p:sp>
        <p:nvSpPr>
          <p:cNvPr id="26" name="tb26"/>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KIRISH • REJA</a:t>
            </a:r>
          </a:p>
        </p:txBody>
      </p:sp>
      <p:sp>
        <p:nvSpPr>
          <p:cNvPr id="27" name="tb27"/>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2 / 10</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28"/>
          <p:cNvSpPr/>
          <p:nvPr/>
        </p:nvSpPr>
        <p:spPr>
          <a:xfrm>
            <a:off x="0" y="0"/>
            <a:ext cx="12192000" cy="6858000"/>
          </a:xfrm>
          <a:prstGeom prst="roundRect">
            <a:avLst>
              <a:gd name="adj" fmla="val 6000"/>
            </a:avLst>
          </a:prstGeom>
          <a:solidFill>
            <a:srgbClr val="06162E"/>
          </a:solidFill>
          <a:ln>
            <a:noFill/>
          </a:ln>
        </p:spPr>
        <p:txBody>
          <a:bodyPr/>
          <a:lstStyle/>
          <a:p/>
        </p:txBody>
      </p:sp>
      <p:sp>
        <p:nvSpPr>
          <p:cNvPr id="29" name="rect29"/>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30" name="rect30"/>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31" name="tb31"/>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1-REJA</a:t>
            </a:r>
          </a:p>
        </p:txBody>
      </p:sp>
      <p:sp>
        <p:nvSpPr>
          <p:cNvPr id="32" name="tb32"/>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Optik tola nima va u axborotni qanday oʻqiydi?</a:t>
            </a:r>
          </a:p>
        </p:txBody>
      </p:sp>
      <p:pic>
        <p:nvPicPr>
          <p:cNvPr id="33" name="img33"/>
          <p:cNvPicPr>
            <a:picLocks noChangeAspect="1"/>
          </p:cNvPicPr>
          <p:nvPr/>
        </p:nvPicPr>
        <p:blipFill>
          <a:blip r:embed="rId2"/>
          <a:stretch>
            <a:fillRect/>
          </a:stretch>
        </p:blipFill>
        <p:spPr>
          <a:xfrm>
            <a:off x="6309360" y="1554480"/>
            <a:ext cx="5330952" cy="2999232"/>
          </a:xfrm>
          <a:prstGeom prst="rect">
            <a:avLst/>
          </a:prstGeom>
          <a:ln w="19050">
            <a:solidFill>
              <a:srgbClr val="22E0FF">
                <a:alpha val="55000"/>
              </a:srgbClr>
            </a:solidFill>
          </a:ln>
        </p:spPr>
      </p:pic>
      <p:sp>
        <p:nvSpPr>
          <p:cNvPr id="34" name="tb34"/>
          <p:cNvSpPr txBox="1"/>
          <p:nvPr/>
        </p:nvSpPr>
        <p:spPr>
          <a:xfrm>
            <a:off x="548640" y="1600200"/>
            <a:ext cx="5394960" cy="4114800"/>
          </a:xfrm>
          <a:prstGeom prst="rect">
            <a:avLst/>
          </a:prstGeom>
        </p:spPr>
        <p:txBody>
          <a:bodyPr wrap="square" lIns="0" tIns="0" rIns="0" bIns="0" anchor="t"/>
          <a:lstStyle/>
          <a:p>
            <a:pPr algn="l">
              <a:spcAft>
                <a:spcPts val="600"/>
              </a:spcAft>
              <a:buNone/>
            </a:pPr>
            <a:r>
              <a:rPr lang="uz-UZ" sz="1400" b="0" dirty="0">
                <a:solidFill>
                  <a:srgbClr val="EEF5FC"/>
                </a:solidFill>
                <a:latin typeface="Times New Roman"/>
                <a:cs typeface="Times New Roman"/>
              </a:rPr>
              <a:t>Optik tola — bu axborotni elektr toki emas, balki yorugʻlik zarrachalari (fotonlar) yordamida uzatuvchi, diametri atigi 8–125 mikrometr boʻlgan oʻta toza shisha (silika, SiO₂) yoki plastik toladir. Bugungi magistral tarmoqlarda bir modali (single-mode) tolaning yadro diametri taxminan 9 µm ni tashkil etadi — bu inson sochidan ham ingichka. Kompyuterdagi raqamli maʻlumotlar (ikkilik 1 va 0 ketma-ketligi) yarimoʻtkazgichli lazer yoki LED yordamida yorugʻlik impulslariga aylantiriladi; bu modulyatsiya jarayoni: nur yoqilsa “1”, oʻchirilsa “0”. Zamonaviy tizimlarda toʻlqin uzunligi koʻpincha 1310 nm va 1550 nm infraqizil diapazonda tanlanadi, chunki aynan shu “oynalarda” shishadagi yoʻqotishlar eng kichik. Qabul qiluvchi tomonda fotodiod yorugʻlik impulslarini yana elektr signaliga, soʻngra raqamli maʻlumotga aylantiradi, shu tarzda bitta tola soniyasiga milliardlab bit uzatadi.</a:t>
            </a:r>
          </a:p>
        </p:txBody>
      </p:sp>
      <p:sp>
        <p:nvSpPr>
          <p:cNvPr id="35" name="tb35"/>
          <p:cNvSpPr txBox="1"/>
          <p:nvPr/>
        </p:nvSpPr>
        <p:spPr>
          <a:xfrm>
            <a:off x="548640" y="5074920"/>
            <a:ext cx="11094720" cy="640080"/>
          </a:xfrm>
          <a:prstGeom prst="rect">
            <a:avLst/>
          </a:prstGeom>
        </p:spPr>
        <p:txBody>
          <a:bodyPr wrap="square" lIns="0" tIns="0" rIns="0" bIns="0" anchor="t"/>
          <a:lstStyle/>
          <a:p>
            <a:pPr algn="l">
              <a:spcAft>
                <a:spcPts val="600"/>
              </a:spcAft>
              <a:buNone/>
            </a:pPr>
            <a:r>
              <a:rPr lang="uz-UZ" sz="2000" b="1" i="1" dirty="0">
                <a:solidFill>
                  <a:srgbClr val="FFD166"/>
                </a:solidFill>
                <a:latin typeface="Times New Roman"/>
                <a:cs typeface="Times New Roman"/>
              </a:rPr>
              <a:t>Eslatma: </a:t>
            </a:r>
            <a:r>
              <a:rPr lang="uz-UZ" sz="1400" b="0" i="1" dirty="0">
                <a:solidFill>
                  <a:srgbClr val="A9C2DA"/>
                </a:solidFill>
                <a:latin typeface="Times New Roman"/>
                <a:cs typeface="Times New Roman"/>
              </a:rPr>
              <a:t>Tola oddiy “sim” emas, balki optik toʻlqin yoʻriqchisidir (waveguide) — u yorugʻlikni egilishlarda ham ushlab, manzilgacha olib boradi.</a:t>
            </a:r>
          </a:p>
        </p:txBody>
      </p:sp>
      <p:sp>
        <p:nvSpPr>
          <p:cNvPr id="36" name="tb36"/>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1-REJA</a:t>
            </a:r>
          </a:p>
        </p:txBody>
      </p:sp>
      <p:sp>
        <p:nvSpPr>
          <p:cNvPr id="37" name="tb37"/>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3 / 10</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38"/>
          <p:cNvSpPr/>
          <p:nvPr/>
        </p:nvSpPr>
        <p:spPr>
          <a:xfrm>
            <a:off x="0" y="0"/>
            <a:ext cx="12192000" cy="6858000"/>
          </a:xfrm>
          <a:prstGeom prst="roundRect">
            <a:avLst>
              <a:gd name="adj" fmla="val 6000"/>
            </a:avLst>
          </a:prstGeom>
          <a:solidFill>
            <a:srgbClr val="06162E"/>
          </a:solidFill>
          <a:ln>
            <a:noFill/>
          </a:ln>
        </p:spPr>
        <p:txBody>
          <a:bodyPr/>
          <a:lstStyle/>
          <a:p/>
        </p:txBody>
      </p:sp>
      <p:sp>
        <p:nvSpPr>
          <p:cNvPr id="39" name="rect39"/>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40" name="rect40"/>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41" name="tb41"/>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1-REJA</a:t>
            </a:r>
          </a:p>
        </p:txBody>
      </p:sp>
      <p:sp>
        <p:nvSpPr>
          <p:cNvPr id="42" name="tb42"/>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Optik tolaning ichki tuzilishi</a:t>
            </a:r>
          </a:p>
        </p:txBody>
      </p:sp>
      <p:pic>
        <p:nvPicPr>
          <p:cNvPr id="43" name="img43"/>
          <p:cNvPicPr>
            <a:picLocks noChangeAspect="1"/>
          </p:cNvPicPr>
          <p:nvPr/>
        </p:nvPicPr>
        <p:blipFill>
          <a:blip r:embed="rId2"/>
          <a:stretch>
            <a:fillRect/>
          </a:stretch>
        </p:blipFill>
        <p:spPr>
          <a:xfrm>
            <a:off x="548640" y="1554480"/>
            <a:ext cx="5330952" cy="2999232"/>
          </a:xfrm>
          <a:prstGeom prst="rect">
            <a:avLst/>
          </a:prstGeom>
          <a:ln w="19050">
            <a:solidFill>
              <a:srgbClr val="22E0FF">
                <a:alpha val="55000"/>
              </a:srgbClr>
            </a:solidFill>
          </a:ln>
        </p:spPr>
      </p:pic>
      <p:sp>
        <p:nvSpPr>
          <p:cNvPr id="44" name="tb44"/>
          <p:cNvSpPr txBox="1"/>
          <p:nvPr/>
        </p:nvSpPr>
        <p:spPr>
          <a:xfrm>
            <a:off x="6400800" y="1280160"/>
            <a:ext cx="5212080" cy="4206240"/>
          </a:xfrm>
          <a:prstGeom prst="rect">
            <a:avLst/>
          </a:prstGeom>
        </p:spPr>
        <p:txBody>
          <a:bodyPr wrap="square" lIns="0" tIns="0" rIns="0" bIns="0" anchor="t"/>
          <a:lstStyle/>
          <a:p>
            <a:pPr algn="l">
              <a:spcAft>
                <a:spcPts val="500"/>
              </a:spcAft>
              <a:buNone/>
            </a:pPr>
            <a:r>
              <a:rPr lang="uz-UZ" sz="1400" b="0" dirty="0">
                <a:solidFill>
                  <a:srgbClr val="EEF5FC"/>
                </a:solidFill>
                <a:latin typeface="Times New Roman"/>
                <a:cs typeface="Times New Roman"/>
              </a:rPr>
              <a:t>Bitta optik kabel oʻnlab, baʻzan yuzlab (hozirgi rekordlarda 6 000+) alohida tolani birlashtiradi. Har bir tolaning ishlashi uning uch qatlamidagi sindirish koʻrsatkichi (n) farqiga asoslanadi:</a:t>
            </a:r>
          </a:p>
          <a:p>
            <a:pPr algn="l" marL="285750" indent="-285750">
              <a:spcAft>
                <a:spcPts val="400"/>
              </a:spcAft>
              <a:buFont typeface="Arial"/>
              <a:buChar char="•"/>
            </a:pPr>
            <a:r>
              <a:rPr lang="uz-UZ" sz="2000" b="1" dirty="0">
                <a:solidFill>
                  <a:srgbClr val="22E0FF"/>
                </a:solidFill>
                <a:latin typeface="Times New Roman"/>
                <a:cs typeface="Times New Roman"/>
              </a:rPr>
              <a:t>Yadro (Core): </a:t>
            </a:r>
            <a:r>
              <a:rPr lang="uz-UZ" sz="1400" b="0" dirty="0">
                <a:solidFill>
                  <a:srgbClr val="EEF5FC"/>
                </a:solidFill>
                <a:latin typeface="Times New Roman"/>
                <a:cs typeface="Times New Roman"/>
              </a:rPr>
              <a:t>yorugʻlik tarqaladigan markaziy shisha; sindirish koʻrsatkichi yuqoriroq (n₁ ≈ 1,468). Foton oqimi aynan shu qatlamda yashaydi.</a:t>
            </a:r>
          </a:p>
          <a:p>
            <a:pPr algn="l" marL="285750" indent="-285750">
              <a:spcAft>
                <a:spcPts val="400"/>
              </a:spcAft>
              <a:buFont typeface="Arial"/>
              <a:buChar char="•"/>
            </a:pPr>
            <a:r>
              <a:rPr lang="uz-UZ" sz="2000" b="1" dirty="0">
                <a:solidFill>
                  <a:srgbClr val="22E0FF"/>
                </a:solidFill>
                <a:latin typeface="Times New Roman"/>
                <a:cs typeface="Times New Roman"/>
              </a:rPr>
              <a:t>Qobiq (Cladding): </a:t>
            </a:r>
            <a:r>
              <a:rPr lang="uz-UZ" sz="1400" b="0" dirty="0">
                <a:solidFill>
                  <a:srgbClr val="EEF5FC"/>
                </a:solidFill>
                <a:latin typeface="Times New Roman"/>
                <a:cs typeface="Times New Roman"/>
              </a:rPr>
              <a:t>yadroni oʻrab turuvchi, biroz pastroq sindirish koʻrsatkichli (n₂ ≈ 1,462) shisha. n₁ &gt; n₂ sharti toʻliq ichki qaytishni taʻminlaydi.</a:t>
            </a:r>
          </a:p>
          <a:p>
            <a:pPr algn="l" marL="285750" indent="-285750">
              <a:spcAft>
                <a:spcPts val="400"/>
              </a:spcAft>
              <a:buFont typeface="Arial"/>
              <a:buChar char="•"/>
            </a:pPr>
            <a:r>
              <a:rPr lang="uz-UZ" sz="2000" b="1" dirty="0">
                <a:solidFill>
                  <a:srgbClr val="22E0FF"/>
                </a:solidFill>
                <a:latin typeface="Times New Roman"/>
                <a:cs typeface="Times New Roman"/>
              </a:rPr>
              <a:t>Himoya qatlami: </a:t>
            </a:r>
            <a:r>
              <a:rPr lang="uz-UZ" sz="1400" b="0" dirty="0">
                <a:solidFill>
                  <a:srgbClr val="EEF5FC"/>
                </a:solidFill>
                <a:latin typeface="Times New Roman"/>
                <a:cs typeface="Times New Roman"/>
              </a:rPr>
              <a:t>akrilat qoplama, aramid (Kevlar) iplari va tashqi plastik gʻilof — namlik, egilish va mexanik shikastdan asraydi.</a:t>
            </a:r>
          </a:p>
          <a:p>
            <a:pPr algn="l">
              <a:spcAft>
                <a:spcPts val="0"/>
              </a:spcAft>
              <a:buNone/>
            </a:pPr>
            <a:r>
              <a:rPr lang="uz-UZ" sz="2000" b="1" dirty="0">
                <a:solidFill>
                  <a:srgbClr val="FFD166"/>
                </a:solidFill>
                <a:latin typeface="Times New Roman"/>
                <a:cs typeface="Times New Roman"/>
              </a:rPr>
              <a:t>Formula:  n₁ &gt; n₂   ·   NA = √(n₁² − n₂²)</a:t>
            </a:r>
          </a:p>
        </p:txBody>
      </p:sp>
      <p:sp>
        <p:nvSpPr>
          <p:cNvPr id="45" name="tb45"/>
          <p:cNvSpPr txBox="1"/>
          <p:nvPr/>
        </p:nvSpPr>
        <p:spPr>
          <a:xfrm>
            <a:off x="548640" y="5074920"/>
            <a:ext cx="11094720" cy="640080"/>
          </a:xfrm>
          <a:prstGeom prst="rect">
            <a:avLst/>
          </a:prstGeom>
        </p:spPr>
        <p:txBody>
          <a:bodyPr wrap="square" lIns="0" tIns="0" rIns="0" bIns="0" anchor="t"/>
          <a:lstStyle/>
          <a:p>
            <a:pPr algn="l">
              <a:spcAft>
                <a:spcPts val="600"/>
              </a:spcAft>
              <a:buNone/>
            </a:pPr>
            <a:r>
              <a:rPr lang="uz-UZ" sz="2000" b="1" i="1" dirty="0">
                <a:solidFill>
                  <a:srgbClr val="FFD166"/>
                </a:solidFill>
                <a:latin typeface="Times New Roman"/>
                <a:cs typeface="Times New Roman"/>
              </a:rPr>
              <a:t>Eslatma: </a:t>
            </a:r>
            <a:r>
              <a:rPr lang="uz-UZ" sz="1400" b="0" i="1" dirty="0">
                <a:solidFill>
                  <a:srgbClr val="A9C2DA"/>
                </a:solidFill>
                <a:latin typeface="Times New Roman"/>
                <a:cs typeface="Times New Roman"/>
              </a:rPr>
              <a:t>Yadro va qobiq oʻrtasidagi atigi ~1% sindirish koʻrsatkichi farqi butun texnologiyaning fizik poydevoridir.</a:t>
            </a:r>
          </a:p>
        </p:txBody>
      </p:sp>
      <p:sp>
        <p:nvSpPr>
          <p:cNvPr id="46" name="tb46"/>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1-REJA</a:t>
            </a:r>
          </a:p>
        </p:txBody>
      </p:sp>
      <p:sp>
        <p:nvSpPr>
          <p:cNvPr id="47" name="tb47"/>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4 / 10</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48"/>
          <p:cNvSpPr/>
          <p:nvPr/>
        </p:nvSpPr>
        <p:spPr>
          <a:xfrm>
            <a:off x="0" y="0"/>
            <a:ext cx="12192000" cy="6858000"/>
          </a:xfrm>
          <a:prstGeom prst="roundRect">
            <a:avLst>
              <a:gd name="adj" fmla="val 6000"/>
            </a:avLst>
          </a:prstGeom>
          <a:solidFill>
            <a:srgbClr val="06162E"/>
          </a:solidFill>
          <a:ln>
            <a:noFill/>
          </a:ln>
        </p:spPr>
        <p:txBody>
          <a:bodyPr/>
          <a:lstStyle/>
          <a:p/>
        </p:txBody>
      </p:sp>
      <p:sp>
        <p:nvSpPr>
          <p:cNvPr id="49" name="rect49"/>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50" name="rect50"/>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51" name="tb51"/>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2-REJA</a:t>
            </a:r>
          </a:p>
        </p:txBody>
      </p:sp>
      <p:sp>
        <p:nvSpPr>
          <p:cNvPr id="52" name="tb52"/>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Toʻliq ichki qaytish fizikasi</a:t>
            </a:r>
          </a:p>
        </p:txBody>
      </p:sp>
      <p:pic>
        <p:nvPicPr>
          <p:cNvPr id="53" name="img53"/>
          <p:cNvPicPr>
            <a:picLocks noChangeAspect="1"/>
          </p:cNvPicPr>
          <p:nvPr/>
        </p:nvPicPr>
        <p:blipFill>
          <a:blip r:embed="rId2"/>
          <a:stretch>
            <a:fillRect/>
          </a:stretch>
        </p:blipFill>
        <p:spPr>
          <a:xfrm>
            <a:off x="6309360" y="1554480"/>
            <a:ext cx="5330952" cy="2999232"/>
          </a:xfrm>
          <a:prstGeom prst="rect">
            <a:avLst/>
          </a:prstGeom>
          <a:ln w="19050">
            <a:solidFill>
              <a:srgbClr val="22E0FF">
                <a:alpha val="55000"/>
              </a:srgbClr>
            </a:solidFill>
          </a:ln>
        </p:spPr>
      </p:pic>
      <p:sp>
        <p:nvSpPr>
          <p:cNvPr id="54" name="tb54"/>
          <p:cNvSpPr txBox="1"/>
          <p:nvPr/>
        </p:nvSpPr>
        <p:spPr>
          <a:xfrm>
            <a:off x="548640" y="1600200"/>
            <a:ext cx="5394960" cy="4206240"/>
          </a:xfrm>
          <a:prstGeom prst="rect">
            <a:avLst/>
          </a:prstGeom>
        </p:spPr>
        <p:txBody>
          <a:bodyPr wrap="square" lIns="0" tIns="0" rIns="0" bIns="0" anchor="t"/>
          <a:lstStyle/>
          <a:p>
            <a:pPr algn="l">
              <a:spcAft>
                <a:spcPts val="500"/>
              </a:spcAft>
              <a:buNone/>
            </a:pPr>
            <a:r>
              <a:rPr lang="uz-UZ" sz="1400" b="0" dirty="0">
                <a:solidFill>
                  <a:srgbClr val="EEF5FC"/>
                </a:solidFill>
                <a:latin typeface="Times New Roman"/>
                <a:cs typeface="Times New Roman"/>
              </a:rPr>
              <a:t>Yorugʻlik shisha quvurdan “sizib” chiqmasligining siri — optikaning toʻliq ichki qaytish (Total Internal Reflection, TIR) hodisasidadir. Nur zichroq muhitdan (yadro) siyrakroq muhitga (qobiq) oʻtishda Snell qonuni boʻyicha sinadi: n₁·sinθ₁ = n₂·sinθ₂. Tushish burchagi maʻlum bir kritik burchak θc dan oshsa, nur umuman qobiqqa oʻtmaydi va koʻzgudan qaytgandek 100% yadroga qaytadi; shuning uchun kabel egilsa ham foton oqimi ichkarida qamalib, minglab kilometr yoʻl bosadi. Signalning soʻnishi (attenuatsiya) juda kam: zamonaviy tolalarda atigi ~0,2 dB/km (1550 nm da), yaʻni signal 100 km dan keyin ham oʻqiladi. Uzoq masofalarda signalni tiklash uchun har ~80–100 km da EDFA (erbiy legirlangan tola kuchaytirgichi) ishlatiladi.</a:t>
            </a:r>
          </a:p>
          <a:p>
            <a:pPr algn="l">
              <a:spcAft>
                <a:spcPts val="0"/>
              </a:spcAft>
              <a:buNone/>
            </a:pPr>
            <a:r>
              <a:rPr lang="uz-UZ" sz="2000" b="1" dirty="0">
                <a:solidFill>
                  <a:srgbClr val="FFD166"/>
                </a:solidFill>
                <a:latin typeface="Times New Roman"/>
                <a:cs typeface="Times New Roman"/>
              </a:rPr>
              <a:t>Formula:  θc = arcsin(n₂ / n₁) ≈ 83°  (shisha uchun)</a:t>
            </a:r>
          </a:p>
        </p:txBody>
      </p:sp>
      <p:sp>
        <p:nvSpPr>
          <p:cNvPr id="55" name="tb55"/>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2-REJA</a:t>
            </a:r>
          </a:p>
        </p:txBody>
      </p:sp>
      <p:sp>
        <p:nvSpPr>
          <p:cNvPr id="56" name="tb56"/>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5 / 10</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57"/>
          <p:cNvSpPr/>
          <p:nvPr/>
        </p:nvSpPr>
        <p:spPr>
          <a:xfrm>
            <a:off x="0" y="0"/>
            <a:ext cx="12192000" cy="6858000"/>
          </a:xfrm>
          <a:prstGeom prst="roundRect">
            <a:avLst>
              <a:gd name="adj" fmla="val 6000"/>
            </a:avLst>
          </a:prstGeom>
          <a:solidFill>
            <a:srgbClr val="06162E"/>
          </a:solidFill>
          <a:ln>
            <a:noFill/>
          </a:ln>
        </p:spPr>
        <p:txBody>
          <a:bodyPr/>
          <a:lstStyle/>
          <a:p/>
        </p:txBody>
      </p:sp>
      <p:sp>
        <p:nvSpPr>
          <p:cNvPr id="58" name="rect58"/>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59" name="rect59"/>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60" name="tb60"/>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2-REJA</a:t>
            </a:r>
          </a:p>
        </p:txBody>
      </p:sp>
      <p:sp>
        <p:nvSpPr>
          <p:cNvPr id="61" name="tb61"/>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Optik tolaning afzalliklari</a:t>
            </a:r>
          </a:p>
        </p:txBody>
      </p:sp>
      <p:sp>
        <p:nvSpPr>
          <p:cNvPr id="62" name="tb62"/>
          <p:cNvSpPr txBox="1"/>
          <p:nvPr/>
        </p:nvSpPr>
        <p:spPr>
          <a:xfrm>
            <a:off x="548640" y="1463040"/>
            <a:ext cx="5486400" cy="1371600"/>
          </a:xfrm>
          <a:prstGeom prst="rect">
            <a:avLst/>
          </a:prstGeom>
        </p:spPr>
        <p:txBody>
          <a:bodyPr wrap="square" lIns="0" tIns="0" rIns="0" bIns="0" anchor="t"/>
          <a:lstStyle/>
          <a:p>
            <a:pPr algn="l">
              <a:spcAft>
                <a:spcPts val="600"/>
              </a:spcAft>
              <a:buNone/>
            </a:pPr>
            <a:r>
              <a:rPr lang="uz-UZ" sz="1400" b="0" dirty="0">
                <a:solidFill>
                  <a:srgbClr val="EEF5FC"/>
                </a:solidFill>
                <a:latin typeface="Times New Roman"/>
                <a:cs typeface="Times New Roman"/>
              </a:rPr>
              <a:t>Eski mis kabellar axborotni elektr signali orqali uzatadi va qarshilik, qizish hamda elektromagnit xalaqitdan aziyat chekadi. Optik tola esa yorugʻlik asosida ishlaydi. Yorugʻlik vakuumda ~299 792 km/s, shisha ichida esa (n≈1,47) ~200 000 km/s tezlikda tarqaladi.</a:t>
            </a:r>
          </a:p>
        </p:txBody>
      </p:sp>
      <p:pic>
        <p:nvPicPr>
          <p:cNvPr id="63" name="img63"/>
          <p:cNvPicPr>
            <a:picLocks noChangeAspect="1"/>
          </p:cNvPicPr>
          <p:nvPr/>
        </p:nvPicPr>
        <p:blipFill>
          <a:blip r:embed="rId2"/>
          <a:stretch>
            <a:fillRect/>
          </a:stretch>
        </p:blipFill>
        <p:spPr>
          <a:xfrm>
            <a:off x="6400800" y="1463040"/>
            <a:ext cx="5212080" cy="1463040"/>
          </a:xfrm>
          <a:prstGeom prst="rect">
            <a:avLst/>
          </a:prstGeom>
          <a:ln w="19050">
            <a:solidFill>
              <a:srgbClr val="22E0FF">
                <a:alpha val="55000"/>
              </a:srgbClr>
            </a:solidFill>
          </a:ln>
        </p:spPr>
      </p:pic>
      <p:sp>
        <p:nvSpPr>
          <p:cNvPr id="64" name="tb64"/>
          <p:cNvSpPr txBox="1"/>
          <p:nvPr/>
        </p:nvSpPr>
        <p:spPr>
          <a:xfrm>
            <a:off x="548640" y="3154680"/>
            <a:ext cx="3566160" cy="1097280"/>
          </a:xfrm>
          <a:prstGeom prst="rect">
            <a:avLst/>
          </a:prstGeom>
        </p:spPr>
        <p:txBody>
          <a:bodyPr wrap="square" lIns="0" tIns="0" rIns="0" bIns="0" anchor="t"/>
          <a:lstStyle/>
          <a:p>
            <a:pPr algn="ctr">
              <a:spcAft>
                <a:spcPts val="100"/>
              </a:spcAft>
              <a:buNone/>
            </a:pPr>
            <a:r>
              <a:rPr lang="uz-UZ" sz="4400" b="1" dirty="0">
                <a:solidFill>
                  <a:srgbClr val="22E0FF"/>
                </a:solidFill>
                <a:latin typeface="Times New Roman"/>
                <a:cs typeface="Times New Roman"/>
              </a:rPr>
              <a:t>~200 000</a:t>
            </a:r>
          </a:p>
          <a:p>
            <a:pPr algn="ctr">
              <a:spcAft>
                <a:spcPts val="0"/>
              </a:spcAft>
              <a:buNone/>
            </a:pPr>
            <a:r>
              <a:rPr lang="uz-UZ" sz="1400" b="0" dirty="0">
                <a:solidFill>
                  <a:srgbClr val="A9C2DA"/>
                </a:solidFill>
                <a:latin typeface="Times New Roman"/>
                <a:cs typeface="Times New Roman"/>
              </a:rPr>
              <a:t>km/s — shishadagi yorugʻlik tezligi</a:t>
            </a:r>
          </a:p>
        </p:txBody>
      </p:sp>
      <p:sp>
        <p:nvSpPr>
          <p:cNvPr id="65" name="tb65"/>
          <p:cNvSpPr txBox="1"/>
          <p:nvPr/>
        </p:nvSpPr>
        <p:spPr>
          <a:xfrm>
            <a:off x="4206240" y="3154680"/>
            <a:ext cx="3566160" cy="1097280"/>
          </a:xfrm>
          <a:prstGeom prst="rect">
            <a:avLst/>
          </a:prstGeom>
        </p:spPr>
        <p:txBody>
          <a:bodyPr wrap="square" lIns="0" tIns="0" rIns="0" bIns="0" anchor="t"/>
          <a:lstStyle/>
          <a:p>
            <a:pPr algn="ctr">
              <a:spcAft>
                <a:spcPts val="100"/>
              </a:spcAft>
              <a:buNone/>
            </a:pPr>
            <a:r>
              <a:rPr lang="uz-UZ" sz="4400" b="1" dirty="0">
                <a:solidFill>
                  <a:srgbClr val="4BE3A0"/>
                </a:solidFill>
                <a:latin typeface="Times New Roman"/>
                <a:cs typeface="Times New Roman"/>
              </a:rPr>
              <a:t>0,2</a:t>
            </a:r>
          </a:p>
          <a:p>
            <a:pPr algn="ctr">
              <a:spcAft>
                <a:spcPts val="0"/>
              </a:spcAft>
              <a:buNone/>
            </a:pPr>
            <a:r>
              <a:rPr lang="uz-UZ" sz="1400" b="0" dirty="0">
                <a:solidFill>
                  <a:srgbClr val="A9C2DA"/>
                </a:solidFill>
                <a:latin typeface="Times New Roman"/>
                <a:cs typeface="Times New Roman"/>
              </a:rPr>
              <a:t>dB/km — eng kam soʻnish (1550 nm)</a:t>
            </a:r>
          </a:p>
        </p:txBody>
      </p:sp>
      <p:sp>
        <p:nvSpPr>
          <p:cNvPr id="66" name="tb66"/>
          <p:cNvSpPr txBox="1"/>
          <p:nvPr/>
        </p:nvSpPr>
        <p:spPr>
          <a:xfrm>
            <a:off x="7863840" y="3154680"/>
            <a:ext cx="3566160" cy="1097280"/>
          </a:xfrm>
          <a:prstGeom prst="rect">
            <a:avLst/>
          </a:prstGeom>
        </p:spPr>
        <p:txBody>
          <a:bodyPr wrap="square" lIns="0" tIns="0" rIns="0" bIns="0" anchor="t"/>
          <a:lstStyle/>
          <a:p>
            <a:pPr algn="ctr">
              <a:spcAft>
                <a:spcPts val="100"/>
              </a:spcAft>
              <a:buNone/>
            </a:pPr>
            <a:r>
              <a:rPr lang="uz-UZ" sz="4400" b="1" dirty="0">
                <a:solidFill>
                  <a:srgbClr val="FFD166"/>
                </a:solidFill>
                <a:latin typeface="Times New Roman"/>
                <a:cs typeface="Times New Roman"/>
              </a:rPr>
              <a:t>&gt;100</a:t>
            </a:r>
          </a:p>
          <a:p>
            <a:pPr algn="ctr">
              <a:spcAft>
                <a:spcPts val="0"/>
              </a:spcAft>
              <a:buNone/>
            </a:pPr>
            <a:r>
              <a:rPr lang="uz-UZ" sz="1400" b="0" dirty="0">
                <a:solidFill>
                  <a:srgbClr val="A9C2DA"/>
                </a:solidFill>
                <a:latin typeface="Times New Roman"/>
                <a:cs typeface="Times New Roman"/>
              </a:rPr>
              <a:t>Tbit/s — bitta tolaning sigʻimi</a:t>
            </a:r>
          </a:p>
        </p:txBody>
      </p:sp>
      <p:sp>
        <p:nvSpPr>
          <p:cNvPr id="67" name="tb67"/>
          <p:cNvSpPr txBox="1"/>
          <p:nvPr/>
        </p:nvSpPr>
        <p:spPr>
          <a:xfrm>
            <a:off x="548640" y="4480560"/>
            <a:ext cx="3566160" cy="1280160"/>
          </a:xfrm>
          <a:prstGeom prst="rect">
            <a:avLst/>
          </a:prstGeom>
        </p:spPr>
        <p:txBody>
          <a:bodyPr wrap="square" lIns="0" tIns="0" rIns="0" bIns="0" anchor="t"/>
          <a:lstStyle/>
          <a:p>
            <a:pPr algn="l">
              <a:spcAft>
                <a:spcPts val="100"/>
              </a:spcAft>
              <a:buNone/>
            </a:pPr>
            <a:r>
              <a:rPr lang="uz-UZ" sz="2000" b="1" dirty="0">
                <a:solidFill>
                  <a:srgbClr val="22E0FF"/>
                </a:solidFill>
                <a:latin typeface="Times New Roman"/>
                <a:cs typeface="Times New Roman"/>
              </a:rPr>
              <a:t>Katta sigʻim (DWDM): </a:t>
            </a:r>
          </a:p>
          <a:p>
            <a:pPr algn="l">
              <a:spcAft>
                <a:spcPts val="0"/>
              </a:spcAft>
              <a:buNone/>
            </a:pPr>
            <a:r>
              <a:rPr lang="uz-UZ" sz="1400" b="0" dirty="0">
                <a:solidFill>
                  <a:srgbClr val="EEF5FC"/>
                </a:solidFill>
                <a:latin typeface="Times New Roman"/>
                <a:cs typeface="Times New Roman"/>
              </a:rPr>
              <a:t>bitta tolada 80–160+ toʻlqin uzunligini parallel uzatadi.</a:t>
            </a:r>
          </a:p>
        </p:txBody>
      </p:sp>
      <p:sp>
        <p:nvSpPr>
          <p:cNvPr id="68" name="tb68"/>
          <p:cNvSpPr txBox="1"/>
          <p:nvPr/>
        </p:nvSpPr>
        <p:spPr>
          <a:xfrm>
            <a:off x="4206240" y="4480560"/>
            <a:ext cx="3566160" cy="1280160"/>
          </a:xfrm>
          <a:prstGeom prst="rect">
            <a:avLst/>
          </a:prstGeom>
        </p:spPr>
        <p:txBody>
          <a:bodyPr wrap="square" lIns="0" tIns="0" rIns="0" bIns="0" anchor="t"/>
          <a:lstStyle/>
          <a:p>
            <a:pPr algn="l">
              <a:spcAft>
                <a:spcPts val="100"/>
              </a:spcAft>
              <a:buNone/>
            </a:pPr>
            <a:r>
              <a:rPr lang="uz-UZ" sz="2000" b="1" dirty="0">
                <a:solidFill>
                  <a:srgbClr val="22E0FF"/>
                </a:solidFill>
                <a:latin typeface="Times New Roman"/>
                <a:cs typeface="Times New Roman"/>
              </a:rPr>
              <a:t>Past yoʻqotish: </a:t>
            </a:r>
          </a:p>
          <a:p>
            <a:pPr algn="l">
              <a:spcAft>
                <a:spcPts val="0"/>
              </a:spcAft>
              <a:buNone/>
            </a:pPr>
            <a:r>
              <a:rPr lang="uz-UZ" sz="1400" b="0" dirty="0">
                <a:solidFill>
                  <a:srgbClr val="EEF5FC"/>
                </a:solidFill>
                <a:latin typeface="Times New Roman"/>
                <a:cs typeface="Times New Roman"/>
              </a:rPr>
              <a:t>optik signal kuchaytirgichsiz 70–100 km ga yetadi.</a:t>
            </a:r>
          </a:p>
        </p:txBody>
      </p:sp>
      <p:sp>
        <p:nvSpPr>
          <p:cNvPr id="69" name="tb69"/>
          <p:cNvSpPr txBox="1"/>
          <p:nvPr/>
        </p:nvSpPr>
        <p:spPr>
          <a:xfrm>
            <a:off x="7863840" y="4480560"/>
            <a:ext cx="3566160" cy="1280160"/>
          </a:xfrm>
          <a:prstGeom prst="rect">
            <a:avLst/>
          </a:prstGeom>
        </p:spPr>
        <p:txBody>
          <a:bodyPr wrap="square" lIns="0" tIns="0" rIns="0" bIns="0" anchor="t"/>
          <a:lstStyle/>
          <a:p>
            <a:pPr algn="l">
              <a:spcAft>
                <a:spcPts val="100"/>
              </a:spcAft>
              <a:buNone/>
            </a:pPr>
            <a:r>
              <a:rPr lang="uz-UZ" sz="2000" b="1" dirty="0">
                <a:solidFill>
                  <a:srgbClr val="22E0FF"/>
                </a:solidFill>
                <a:latin typeface="Times New Roman"/>
                <a:cs typeface="Times New Roman"/>
              </a:rPr>
              <a:t>Xavfsizlik: </a:t>
            </a:r>
          </a:p>
          <a:p>
            <a:pPr algn="l">
              <a:spcAft>
                <a:spcPts val="0"/>
              </a:spcAft>
              <a:buNone/>
            </a:pPr>
            <a:r>
              <a:rPr lang="uz-UZ" sz="1400" b="0" dirty="0">
                <a:solidFill>
                  <a:srgbClr val="EEF5FC"/>
                </a:solidFill>
                <a:latin typeface="Times New Roman"/>
                <a:cs typeface="Times New Roman"/>
              </a:rPr>
              <a:t>elektromagnit maydon yaratmaydi, xalaqitga chidamli.</a:t>
            </a:r>
          </a:p>
        </p:txBody>
      </p:sp>
      <p:sp>
        <p:nvSpPr>
          <p:cNvPr id="70" name="tb70"/>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2-REJA</a:t>
            </a:r>
          </a:p>
        </p:txBody>
      </p:sp>
      <p:sp>
        <p:nvSpPr>
          <p:cNvPr id="71" name="tb71"/>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6 / 10</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72"/>
          <p:cNvSpPr/>
          <p:nvPr/>
        </p:nvSpPr>
        <p:spPr>
          <a:xfrm>
            <a:off x="0" y="0"/>
            <a:ext cx="12192000" cy="6858000"/>
          </a:xfrm>
          <a:prstGeom prst="roundRect">
            <a:avLst>
              <a:gd name="adj" fmla="val 6000"/>
            </a:avLst>
          </a:prstGeom>
          <a:solidFill>
            <a:srgbClr val="06162E"/>
          </a:solidFill>
          <a:ln>
            <a:noFill/>
          </a:ln>
        </p:spPr>
        <p:txBody>
          <a:bodyPr/>
          <a:lstStyle/>
          <a:p/>
        </p:txBody>
      </p:sp>
      <p:sp>
        <p:nvSpPr>
          <p:cNvPr id="73" name="rect73"/>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74" name="rect74"/>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75" name="tb75"/>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3-REJA</a:t>
            </a:r>
          </a:p>
        </p:txBody>
      </p:sp>
      <p:sp>
        <p:nvSpPr>
          <p:cNvPr id="76" name="tb76"/>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Qitʻalararo suv osti kabellari</a:t>
            </a:r>
          </a:p>
        </p:txBody>
      </p:sp>
      <p:pic>
        <p:nvPicPr>
          <p:cNvPr id="77" name="img77"/>
          <p:cNvPicPr>
            <a:picLocks noChangeAspect="1"/>
          </p:cNvPicPr>
          <p:nvPr/>
        </p:nvPicPr>
        <p:blipFill>
          <a:blip r:embed="rId2"/>
          <a:stretch>
            <a:fillRect/>
          </a:stretch>
        </p:blipFill>
        <p:spPr>
          <a:xfrm>
            <a:off x="6309360" y="1554480"/>
            <a:ext cx="5330952" cy="2999232"/>
          </a:xfrm>
          <a:prstGeom prst="rect">
            <a:avLst/>
          </a:prstGeom>
          <a:ln w="19050">
            <a:solidFill>
              <a:srgbClr val="22E0FF">
                <a:alpha val="55000"/>
              </a:srgbClr>
            </a:solidFill>
          </a:ln>
        </p:spPr>
      </p:pic>
      <p:sp>
        <p:nvSpPr>
          <p:cNvPr id="78" name="tb78"/>
          <p:cNvSpPr txBox="1"/>
          <p:nvPr/>
        </p:nvSpPr>
        <p:spPr>
          <a:xfrm>
            <a:off x="548640" y="1600200"/>
            <a:ext cx="5394960" cy="4206240"/>
          </a:xfrm>
          <a:prstGeom prst="rect">
            <a:avLst/>
          </a:prstGeom>
        </p:spPr>
        <p:txBody>
          <a:bodyPr wrap="square" lIns="0" tIns="0" rIns="0" bIns="0" anchor="t"/>
          <a:lstStyle/>
          <a:p>
            <a:pPr algn="l">
              <a:spcAft>
                <a:spcPts val="600"/>
              </a:spcAft>
              <a:buNone/>
            </a:pPr>
            <a:r>
              <a:rPr lang="uz-UZ" sz="1400" b="0" dirty="0">
                <a:solidFill>
                  <a:srgbClr val="EEF5FC"/>
                </a:solidFill>
                <a:latin typeface="Times New Roman"/>
                <a:cs typeface="Times New Roman"/>
              </a:rPr>
              <a:t>Koʻpchilik internet kosmosdan — sunʻiy yoʻldoshlardan keladi deb oʻylaydi, ammo aslida qitʻalararo internet trafigining taxminan 99% qismi okean tubida yotgan optik kabellar orqali oʻtadi; sunʻiy yoʻldosh aloqasi sigʻim va kechikish boʻyicha ularga teng kela olmaydi. Hozirda dunyo boʻylab 500 dan ortiq suv osti kabel tizimi mavjud boʻlib, ularning umumiy uzunligi 1,4 million km dan oshadi — bu Yer atrofini 30 martadan koʻproq oʻrab chiqishga teng. Aynan shu kabellar orqali Oʻzbekistondagi foydalanuvchi AQSh yoki Yevropadagi serverlardan (Google, YouTube, bulutli xizmatlar) maʻlumotni oʻnlab millisekund ichida oladi. Masalan, “MAREA” kabeli ~200 Tbit/s sigʻimga ega va AQSh bilan Yevropani bevosita bogʻlaydi.</a:t>
            </a:r>
          </a:p>
        </p:txBody>
      </p:sp>
      <p:sp>
        <p:nvSpPr>
          <p:cNvPr id="79" name="tb79"/>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3-REJA</a:t>
            </a:r>
          </a:p>
        </p:txBody>
      </p:sp>
      <p:sp>
        <p:nvSpPr>
          <p:cNvPr id="80" name="tb80"/>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7 / 10</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81"/>
          <p:cNvSpPr/>
          <p:nvPr/>
        </p:nvSpPr>
        <p:spPr>
          <a:xfrm>
            <a:off x="0" y="0"/>
            <a:ext cx="12192000" cy="6858000"/>
          </a:xfrm>
          <a:prstGeom prst="roundRect">
            <a:avLst>
              <a:gd name="adj" fmla="val 6000"/>
            </a:avLst>
          </a:prstGeom>
          <a:solidFill>
            <a:srgbClr val="06162E"/>
          </a:solidFill>
          <a:ln>
            <a:noFill/>
          </a:ln>
        </p:spPr>
        <p:txBody>
          <a:bodyPr/>
          <a:lstStyle/>
          <a:p/>
        </p:txBody>
      </p:sp>
      <p:sp>
        <p:nvSpPr>
          <p:cNvPr id="82" name="rect82"/>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83" name="rect83"/>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84" name="tb84"/>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3-REJA</a:t>
            </a:r>
          </a:p>
        </p:txBody>
      </p:sp>
      <p:sp>
        <p:nvSpPr>
          <p:cNvPr id="85" name="tb85"/>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Kabellarni yotqizish texnologiyasi</a:t>
            </a:r>
          </a:p>
        </p:txBody>
      </p:sp>
      <p:pic>
        <p:nvPicPr>
          <p:cNvPr id="86" name="img86"/>
          <p:cNvPicPr>
            <a:picLocks noChangeAspect="1"/>
          </p:cNvPicPr>
          <p:nvPr/>
        </p:nvPicPr>
        <p:blipFill>
          <a:blip r:embed="rId2"/>
          <a:stretch>
            <a:fillRect/>
          </a:stretch>
        </p:blipFill>
        <p:spPr>
          <a:xfrm>
            <a:off x="548640" y="1554480"/>
            <a:ext cx="5330952" cy="2999232"/>
          </a:xfrm>
          <a:prstGeom prst="rect">
            <a:avLst/>
          </a:prstGeom>
          <a:ln w="19050">
            <a:solidFill>
              <a:srgbClr val="22E0FF">
                <a:alpha val="55000"/>
              </a:srgbClr>
            </a:solidFill>
          </a:ln>
        </p:spPr>
      </p:pic>
      <p:sp>
        <p:nvSpPr>
          <p:cNvPr id="87" name="tb87"/>
          <p:cNvSpPr txBox="1"/>
          <p:nvPr/>
        </p:nvSpPr>
        <p:spPr>
          <a:xfrm>
            <a:off x="6400800" y="1280160"/>
            <a:ext cx="5212080" cy="3931920"/>
          </a:xfrm>
          <a:prstGeom prst="rect">
            <a:avLst/>
          </a:prstGeom>
        </p:spPr>
        <p:txBody>
          <a:bodyPr wrap="square" lIns="0" tIns="0" rIns="0" bIns="0" anchor="t"/>
          <a:lstStyle/>
          <a:p>
            <a:pPr algn="l">
              <a:spcAft>
                <a:spcPts val="600"/>
              </a:spcAft>
              <a:buNone/>
            </a:pPr>
            <a:r>
              <a:rPr lang="uz-UZ" sz="1400" b="0" dirty="0">
                <a:solidFill>
                  <a:srgbClr val="EEF5FC"/>
                </a:solidFill>
                <a:latin typeface="Times New Roman"/>
                <a:cs typeface="Times New Roman"/>
              </a:rPr>
              <a:t>Okean tubida bosim 10–11 km chuqurlikda 1 000 atmosferadan oshishi mumkin, shuning uchun kabellar koʻp qatlamli himoyaga oʻraladi: markazdagi nozik tolalar poʻlat simlar, mis oʻtkazgich, polietilen va bitum qoplamalar bilan mustahkamlanadi. Maxsus kabel yotqizuvchi kemalar oylab suzib, kabelni soatiga bir necha chaqirim tezlikda okean tubiga yotqizadi. Sayoz zonalarda kabel akula tishlashi va kema langarlaridan himoyalanish uchun 1–3 metr chuqurlikka koʻmiladi. Shikastlanish yuz berganda remont kemasi uzilgan uchlarni maxsus ilgaklar bilan koʻtarib, dengizda qayta ulaydi — tiklash bir necha hafta davom etishi mumkin.</a:t>
            </a:r>
          </a:p>
        </p:txBody>
      </p:sp>
      <p:sp>
        <p:nvSpPr>
          <p:cNvPr id="88" name="tb88"/>
          <p:cNvSpPr txBox="1"/>
          <p:nvPr/>
        </p:nvSpPr>
        <p:spPr>
          <a:xfrm>
            <a:off x="548640" y="5074920"/>
            <a:ext cx="11094720" cy="640080"/>
          </a:xfrm>
          <a:prstGeom prst="rect">
            <a:avLst/>
          </a:prstGeom>
        </p:spPr>
        <p:txBody>
          <a:bodyPr wrap="square" lIns="0" tIns="0" rIns="0" bIns="0" anchor="t"/>
          <a:lstStyle/>
          <a:p>
            <a:pPr algn="l">
              <a:spcAft>
                <a:spcPts val="600"/>
              </a:spcAft>
              <a:buNone/>
            </a:pPr>
            <a:r>
              <a:rPr lang="uz-UZ" sz="2000" b="1" i="1" dirty="0">
                <a:solidFill>
                  <a:srgbClr val="FFD166"/>
                </a:solidFill>
                <a:latin typeface="Times New Roman"/>
                <a:cs typeface="Times New Roman"/>
              </a:rPr>
              <a:t>Eslatma: </a:t>
            </a:r>
            <a:r>
              <a:rPr lang="uz-UZ" sz="1400" b="0" i="1" dirty="0">
                <a:solidFill>
                  <a:srgbClr val="A9C2DA"/>
                </a:solidFill>
                <a:latin typeface="Times New Roman"/>
                <a:cs typeface="Times New Roman"/>
              </a:rPr>
              <a:t>Butun global axborot tizimining uzluksizligi aynan shu koʻrinmas okean osti infratuzilmasiga tayanadi.</a:t>
            </a:r>
          </a:p>
        </p:txBody>
      </p:sp>
      <p:sp>
        <p:nvSpPr>
          <p:cNvPr id="89" name="tb89"/>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3-REJA</a:t>
            </a:r>
          </a:p>
        </p:txBody>
      </p:sp>
      <p:sp>
        <p:nvSpPr>
          <p:cNvPr id="90" name="tb90"/>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8 / 10</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91"/>
          <p:cNvSpPr/>
          <p:nvPr/>
        </p:nvSpPr>
        <p:spPr>
          <a:xfrm>
            <a:off x="0" y="0"/>
            <a:ext cx="12192000" cy="6858000"/>
          </a:xfrm>
          <a:prstGeom prst="roundRect">
            <a:avLst>
              <a:gd name="adj" fmla="val 6000"/>
            </a:avLst>
          </a:prstGeom>
          <a:solidFill>
            <a:srgbClr val="06162E"/>
          </a:solidFill>
          <a:ln>
            <a:noFill/>
          </a:ln>
        </p:spPr>
        <p:txBody>
          <a:bodyPr/>
          <a:lstStyle/>
          <a:p/>
        </p:txBody>
      </p:sp>
      <p:sp>
        <p:nvSpPr>
          <p:cNvPr id="92" name="rect92"/>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93" name="rect93"/>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sp>
        <p:nvSpPr>
          <p:cNvPr id="94" name="tb94"/>
          <p:cNvSpPr txBox="1"/>
          <p:nvPr/>
        </p:nvSpPr>
        <p:spPr>
          <a:xfrm>
            <a:off x="548640" y="411480"/>
            <a:ext cx="11094720" cy="320040"/>
          </a:xfrm>
          <a:prstGeom prst="rect">
            <a:avLst/>
          </a:prstGeom>
        </p:spPr>
        <p:txBody>
          <a:bodyPr wrap="square" lIns="0" tIns="0" rIns="0" bIns="0" anchor="t"/>
          <a:lstStyle/>
          <a:p>
            <a:pPr algn="l">
              <a:spcAft>
                <a:spcPts val="600"/>
              </a:spcAft>
              <a:buNone/>
            </a:pPr>
            <a:r>
              <a:rPr lang="uz-UZ" sz="2000" b="1" dirty="0">
                <a:solidFill>
                  <a:srgbClr val="22E0FF"/>
                </a:solidFill>
                <a:latin typeface="Times New Roman"/>
                <a:cs typeface="Times New Roman"/>
              </a:rPr>
              <a:t>XULOSA</a:t>
            </a:r>
          </a:p>
        </p:txBody>
      </p:sp>
      <p:sp>
        <p:nvSpPr>
          <p:cNvPr id="95" name="tb95"/>
          <p:cNvSpPr txBox="1"/>
          <p:nvPr/>
        </p:nvSpPr>
        <p:spPr>
          <a:xfrm>
            <a:off x="548640" y="777240"/>
            <a:ext cx="11094720" cy="731520"/>
          </a:xfrm>
          <a:prstGeom prst="rect">
            <a:avLst/>
          </a:prstGeom>
        </p:spPr>
        <p:txBody>
          <a:bodyPr wrap="square" lIns="0" tIns="0" rIns="0" bIns="0" anchor="t"/>
          <a:lstStyle/>
          <a:p>
            <a:pPr algn="l">
              <a:spcAft>
                <a:spcPts val="600"/>
              </a:spcAft>
              <a:buNone/>
            </a:pPr>
            <a:r>
              <a:rPr lang="uz-UZ" sz="3200" b="1" dirty="0">
                <a:solidFill>
                  <a:srgbClr val="EEF5FC"/>
                </a:solidFill>
                <a:latin typeface="Times New Roman"/>
                <a:cs typeface="Times New Roman"/>
              </a:rPr>
              <a:t>Xulosa</a:t>
            </a:r>
          </a:p>
        </p:txBody>
      </p:sp>
      <p:pic>
        <p:nvPicPr>
          <p:cNvPr id="96" name="img96"/>
          <p:cNvPicPr>
            <a:picLocks noChangeAspect="1"/>
          </p:cNvPicPr>
          <p:nvPr/>
        </p:nvPicPr>
        <p:blipFill>
          <a:blip r:embed="rId2"/>
          <a:stretch>
            <a:fillRect/>
          </a:stretch>
        </p:blipFill>
        <p:spPr>
          <a:xfrm>
            <a:off x="6309360" y="1554480"/>
            <a:ext cx="5330952" cy="2999232"/>
          </a:xfrm>
          <a:prstGeom prst="rect">
            <a:avLst/>
          </a:prstGeom>
          <a:ln w="19050">
            <a:solidFill>
              <a:srgbClr val="22E0FF">
                <a:alpha val="55000"/>
              </a:srgbClr>
            </a:solidFill>
          </a:ln>
        </p:spPr>
      </p:pic>
      <p:sp>
        <p:nvSpPr>
          <p:cNvPr id="97" name="tb97"/>
          <p:cNvSpPr txBox="1"/>
          <p:nvPr/>
        </p:nvSpPr>
        <p:spPr>
          <a:xfrm>
            <a:off x="548640" y="1600200"/>
            <a:ext cx="5394960" cy="4206240"/>
          </a:xfrm>
          <a:prstGeom prst="rect">
            <a:avLst/>
          </a:prstGeom>
        </p:spPr>
        <p:txBody>
          <a:bodyPr wrap="square" lIns="0" tIns="0" rIns="0" bIns="0" anchor="t"/>
          <a:lstStyle/>
          <a:p>
            <a:pPr algn="l">
              <a:spcAft>
                <a:spcPts val="600"/>
              </a:spcAft>
              <a:buNone/>
            </a:pPr>
            <a:r>
              <a:rPr lang="uz-UZ" sz="1400" b="0" dirty="0">
                <a:solidFill>
                  <a:srgbClr val="EEF5FC"/>
                </a:solidFill>
                <a:latin typeface="Times New Roman"/>
                <a:cs typeface="Times New Roman"/>
              </a:rPr>
              <a:t>Taqdimotni umumlashtirsak, zamonaviy axborot tizimlarining butun qudrati bevosita optik tola va yorugʻlik fizikasiga — toʻliq ichki qaytish, past soʻnish va spektral zichlashtirishga tayanadi; oddiy fizik qonuniyat global miqyosdagi raqamli inqilobni mumkin qildi. Biz foydalanayotgan har bir mobil ilova, veb-sayt, bulut xizmati va universitetning elektron tizimlari oʻz maʻlumotlarini qitʻalar osha yorugʻlik tezligida uzatuvchi, okeanlar tubida yotgan ushbu texnologik moʻjiza orqali almashadi. Optik kabellar haqiqiy maʻnoda zamonaviy raqamli dunyomizning qon tomirlaridir. Kelajakda koʻp yadroli (multi-core) va boʻshliqli (hollow-core) tolalar, kogerent modulyatsiya va kvant shifrlash yoʻnalishlari ushbu tomirlarni yanada tezroq, ishonchliroq va xavfsizroq qiladi.</a:t>
            </a:r>
          </a:p>
        </p:txBody>
      </p:sp>
      <p:sp>
        <p:nvSpPr>
          <p:cNvPr id="98" name="tb98"/>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XULOSA</a:t>
            </a:r>
          </a:p>
        </p:txBody>
      </p:sp>
      <p:sp>
        <p:nvSpPr>
          <p:cNvPr id="99" name="tb99"/>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9 / 10</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100"/>
          <p:cNvSpPr/>
          <p:nvPr/>
        </p:nvSpPr>
        <p:spPr>
          <a:xfrm>
            <a:off x="0" y="0"/>
            <a:ext cx="12192000" cy="6858000"/>
          </a:xfrm>
          <a:prstGeom prst="roundRect">
            <a:avLst>
              <a:gd name="adj" fmla="val 6000"/>
            </a:avLst>
          </a:prstGeom>
          <a:solidFill>
            <a:srgbClr val="06162E"/>
          </a:solidFill>
          <a:ln>
            <a:noFill/>
          </a:ln>
        </p:spPr>
        <p:txBody>
          <a:bodyPr/>
          <a:lstStyle/>
          <a:p/>
        </p:txBody>
      </p:sp>
      <p:sp>
        <p:nvSpPr>
          <p:cNvPr id="101" name="rect101"/>
          <p:cNvSpPr/>
          <p:nvPr/>
        </p:nvSpPr>
        <p:spPr>
          <a:xfrm>
            <a:off x="0" y="0"/>
            <a:ext cx="12192000" cy="64008"/>
          </a:xfrm>
          <a:prstGeom prst="roundRect">
            <a:avLst>
              <a:gd name="adj" fmla="val 6000"/>
            </a:avLst>
          </a:prstGeom>
          <a:solidFill>
            <a:srgbClr val="22E0FF">
              <a:alpha val="85000"/>
            </a:srgbClr>
          </a:solidFill>
          <a:ln>
            <a:noFill/>
          </a:ln>
        </p:spPr>
        <p:txBody>
          <a:bodyPr/>
          <a:lstStyle/>
          <a:p/>
        </p:txBody>
      </p:sp>
      <p:sp>
        <p:nvSpPr>
          <p:cNvPr id="102" name="rect102"/>
          <p:cNvSpPr/>
          <p:nvPr/>
        </p:nvSpPr>
        <p:spPr>
          <a:xfrm>
            <a:off x="548640" y="6199632"/>
            <a:ext cx="11094720" cy="27432"/>
          </a:xfrm>
          <a:prstGeom prst="roundRect">
            <a:avLst>
              <a:gd name="adj" fmla="val 6000"/>
            </a:avLst>
          </a:prstGeom>
          <a:solidFill>
            <a:srgbClr val="22E0FF">
              <a:alpha val="70000"/>
            </a:srgbClr>
          </a:solidFill>
          <a:ln>
            <a:noFill/>
          </a:ln>
        </p:spPr>
        <p:txBody>
          <a:bodyPr/>
          <a:lstStyle/>
          <a:p/>
        </p:txBody>
      </p:sp>
      <p:pic>
        <p:nvPicPr>
          <p:cNvPr id="103" name="img103"/>
          <p:cNvPicPr>
            <a:picLocks noChangeAspect="1"/>
          </p:cNvPicPr>
          <p:nvPr/>
        </p:nvPicPr>
        <p:blipFill>
          <a:blip r:embed="rId2"/>
          <a:stretch>
            <a:fillRect/>
          </a:stretch>
        </p:blipFill>
        <p:spPr>
          <a:xfrm>
            <a:off x="3355848" y="640080"/>
            <a:ext cx="5486400" cy="2743200"/>
          </a:xfrm>
          <a:prstGeom prst="rect">
            <a:avLst/>
          </a:prstGeom>
          <a:ln w="19050">
            <a:solidFill>
              <a:srgbClr val="22E0FF">
                <a:alpha val="55000"/>
              </a:srgbClr>
            </a:solidFill>
          </a:ln>
        </p:spPr>
      </p:pic>
      <p:sp>
        <p:nvSpPr>
          <p:cNvPr id="104" name="tb104"/>
          <p:cNvSpPr txBox="1"/>
          <p:nvPr/>
        </p:nvSpPr>
        <p:spPr>
          <a:xfrm>
            <a:off x="914400" y="3566160"/>
            <a:ext cx="10363200" cy="914400"/>
          </a:xfrm>
          <a:prstGeom prst="rect">
            <a:avLst/>
          </a:prstGeom>
        </p:spPr>
        <p:txBody>
          <a:bodyPr wrap="square" lIns="0" tIns="0" rIns="0" bIns="0" anchor="t"/>
          <a:lstStyle/>
          <a:p>
            <a:pPr algn="ctr">
              <a:spcAft>
                <a:spcPts val="600"/>
              </a:spcAft>
              <a:buNone/>
            </a:pPr>
            <a:r>
              <a:rPr lang="uz-UZ" sz="4400" b="1" dirty="0">
                <a:solidFill>
                  <a:srgbClr val="22E0FF"/>
                </a:solidFill>
                <a:latin typeface="Times New Roman"/>
                <a:cs typeface="Times New Roman"/>
              </a:rPr>
              <a:t>Eʻtiboringiz uchun rahmat!</a:t>
            </a:r>
          </a:p>
        </p:txBody>
      </p:sp>
      <p:sp>
        <p:nvSpPr>
          <p:cNvPr id="105" name="tb105"/>
          <p:cNvSpPr txBox="1"/>
          <p:nvPr/>
        </p:nvSpPr>
        <p:spPr>
          <a:xfrm>
            <a:off x="914400" y="4572000"/>
            <a:ext cx="10363200" cy="1280160"/>
          </a:xfrm>
          <a:prstGeom prst="rect">
            <a:avLst/>
          </a:prstGeom>
        </p:spPr>
        <p:txBody>
          <a:bodyPr wrap="square" lIns="0" tIns="0" rIns="0" bIns="0" anchor="t"/>
          <a:lstStyle/>
          <a:p>
            <a:pPr algn="ctr">
              <a:spcAft>
                <a:spcPts val="200"/>
              </a:spcAft>
              <a:buNone/>
            </a:pPr>
            <a:r>
              <a:rPr lang="uz-UZ" sz="2000" b="1" dirty="0">
                <a:solidFill>
                  <a:srgbClr val="FFD166"/>
                </a:solidFill>
                <a:latin typeface="Times New Roman"/>
                <a:cs typeface="Times New Roman"/>
              </a:rPr>
              <a:t>Mavzu: </a:t>
            </a:r>
            <a:r>
              <a:rPr lang="uz-UZ" sz="1400" b="0" dirty="0">
                <a:solidFill>
                  <a:srgbClr val="EEF5FC"/>
                </a:solidFill>
                <a:latin typeface="Times New Roman"/>
                <a:cs typeface="Times New Roman"/>
              </a:rPr>
              <a:t>Internet kabellari (Optik tola) fizikasi</a:t>
            </a:r>
          </a:p>
          <a:p>
            <a:pPr algn="ctr">
              <a:spcAft>
                <a:spcPts val="200"/>
              </a:spcAft>
              <a:buNone/>
            </a:pPr>
            <a:r>
              <a:rPr lang="uz-UZ" sz="2000" b="1" dirty="0">
                <a:solidFill>
                  <a:srgbClr val="FFD166"/>
                </a:solidFill>
                <a:latin typeface="Times New Roman"/>
                <a:cs typeface="Times New Roman"/>
              </a:rPr>
              <a:t>Talaba: </a:t>
            </a:r>
            <a:r>
              <a:rPr lang="uz-UZ" sz="1400" b="0" dirty="0">
                <a:solidFill>
                  <a:srgbClr val="EEF5FC"/>
                </a:solidFill>
                <a:latin typeface="Times New Roman"/>
                <a:cs typeface="Times New Roman"/>
              </a:rPr>
              <a:t>Toshboʻriyeva Marjona (242_26 - guruh)</a:t>
            </a:r>
          </a:p>
          <a:p>
            <a:pPr algn="ctr">
              <a:spcAft>
                <a:spcPts val="200"/>
              </a:spcAft>
              <a:buNone/>
            </a:pPr>
            <a:r>
              <a:rPr lang="uz-UZ" sz="2000" b="1" dirty="0">
                <a:solidFill>
                  <a:srgbClr val="FFD166"/>
                </a:solidFill>
                <a:latin typeface="Times New Roman"/>
                <a:cs typeface="Times New Roman"/>
              </a:rPr>
              <a:t>Fan: </a:t>
            </a:r>
            <a:r>
              <a:rPr lang="uz-UZ" sz="1400" b="0" dirty="0">
                <a:solidFill>
                  <a:srgbClr val="EEF5FC"/>
                </a:solidFill>
                <a:latin typeface="Times New Roman"/>
                <a:cs typeface="Times New Roman"/>
              </a:rPr>
              <a:t>Axborot tizimlari</a:t>
            </a:r>
          </a:p>
          <a:p>
            <a:pPr algn="ctr">
              <a:spcAft>
                <a:spcPts val="0"/>
              </a:spcAft>
              <a:buNone/>
            </a:pPr>
            <a:r>
              <a:rPr lang="uz-UZ" sz="1400" b="0" i="1" dirty="0">
                <a:solidFill>
                  <a:srgbClr val="A9C2DA"/>
                </a:solidFill>
                <a:latin typeface="Times New Roman"/>
                <a:cs typeface="Times New Roman"/>
              </a:rPr>
              <a:t>Jizzax davlat pedagogika universiteti tabiiy fanlar oliy maktabi</a:t>
            </a:r>
          </a:p>
        </p:txBody>
      </p:sp>
      <p:sp>
        <p:nvSpPr>
          <p:cNvPr id="106" name="tb106"/>
          <p:cNvSpPr txBox="1"/>
          <p:nvPr/>
        </p:nvSpPr>
        <p:spPr>
          <a:xfrm>
            <a:off x="548640" y="6355080"/>
            <a:ext cx="6400800" cy="365760"/>
          </a:xfrm>
          <a:prstGeom prst="rect">
            <a:avLst/>
          </a:prstGeom>
        </p:spPr>
        <p:txBody>
          <a:bodyPr wrap="none" lIns="0" tIns="0" rIns="0" bIns="0" anchor="t"/>
          <a:lstStyle/>
          <a:p>
            <a:pPr algn="l">
              <a:spcAft>
                <a:spcPts val="0"/>
              </a:spcAft>
              <a:buNone/>
            </a:pPr>
            <a:r>
              <a:rPr lang="uz-UZ" sz="1200" b="1" dirty="0">
                <a:solidFill>
                  <a:srgbClr val="22E0FF"/>
                </a:solidFill>
                <a:latin typeface="Times New Roman"/>
                <a:cs typeface="Times New Roman"/>
              </a:rPr>
              <a:t>XULOSA</a:t>
            </a:r>
          </a:p>
        </p:txBody>
      </p:sp>
      <p:sp>
        <p:nvSpPr>
          <p:cNvPr id="107" name="tb107"/>
          <p:cNvSpPr txBox="1"/>
          <p:nvPr/>
        </p:nvSpPr>
        <p:spPr>
          <a:xfrm>
            <a:off x="8900160" y="6355080"/>
            <a:ext cx="2743200" cy="365760"/>
          </a:xfrm>
          <a:prstGeom prst="rect">
            <a:avLst/>
          </a:prstGeom>
        </p:spPr>
        <p:txBody>
          <a:bodyPr wrap="none" lIns="0" tIns="0" rIns="0" bIns="0" anchor="t"/>
          <a:lstStyle/>
          <a:p>
            <a:pPr algn="r">
              <a:spcAft>
                <a:spcPts val="0"/>
              </a:spcAft>
              <a:buNone/>
            </a:pPr>
            <a:r>
              <a:rPr lang="uz-UZ" sz="1200" b="0" i="1" dirty="0">
                <a:solidFill>
                  <a:srgbClr val="A9C2DA"/>
                </a:solidFill>
                <a:latin typeface="Times New Roman"/>
                <a:cs typeface="Times New Roman"/>
              </a:rPr>
              <a:t>10 / 10</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ptik tola">
  <a:themeElements>
    <a:clrScheme name="Optik">
      <a:dk1>
        <a:srgbClr val="020B1A"/>
      </a:dk1>
      <a:lt1>
        <a:srgbClr val="EEF5FC"/>
      </a:lt1>
      <a:dk2>
        <a:srgbClr val="06162E"/>
      </a:dk2>
      <a:lt2>
        <a:srgbClr val="0A2446"/>
      </a:lt2>
      <a:accent1>
        <a:srgbClr val="22E0FF"/>
      </a:accent1>
      <a:accent2>
        <a:srgbClr val="2F6BFF"/>
      </a:accent2>
      <a:accent3>
        <a:srgbClr val="8B5CFF"/>
      </a:accent3>
      <a:accent4>
        <a:srgbClr val="FFD166"/>
      </a:accent4>
      <a:accent5>
        <a:srgbClr val="4BE3A0"/>
      </a:accent5>
      <a:accent6>
        <a:srgbClr val="A9C2DA"/>
      </a:accent6>
      <a:hlink>
        <a:srgbClr val="22E0FF"/>
      </a:hlink>
      <a:folHlink>
        <a:srgbClr val="8B5CFF"/>
      </a:folHlink>
    </a:clrScheme>
    <a:fontScheme name="Times">
      <a:majorFont>
        <a:latin typeface="Times New Roman"/>
        <a:ea typeface=""/>
        <a:cs typeface=""/>
      </a:majorFont>
      <a:minorFont>
        <a:latin typeface="Times New Roman"/>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build_pptx.py</Application>
  <Slides>10</Slides>
</Properties>
</file>

<file path=docProps/core.xml><?xml version="1.0" encoding="utf-8"?>
<cp:coreProperties xmlns:cp="http://schemas.openxmlformats.org/package/2006/metadata/core-properties" xmlns:dc="http://purl.org/dc/elements/1.1/" xmlns:dcterms="http://purl.org/dc/terms/" xmlns:xsi="http://www.w3.org/2001/XMLSchema-instance">
  <dc:title>Internet kabellari (Optik tola) fizikasi</dc:title>
  <dc:creator>Toshboʻriyeva Marjona (242_26 - guruh)</dc:creator>
  <cp:lastModifiedBy>Toshboʻriyeva Marjona</cp:lastModifiedBy>
</cp:coreProperties>
</file>